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C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81C22"/>
                </a:solidFill>
              </a:defRPr>
            </a:pPr>
            <a:r>
              <a:t>IT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606E"/>
                </a:solidFill>
              </a:defRPr>
            </a:pPr>
            <a:r>
              <a:t>Synthese executive pour comite de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274320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Perimetre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61487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Parc IT unifie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0312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103120"/>
            <a:ext cx="274320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33172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61487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React + 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1031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103120"/>
            <a:ext cx="256032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3317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761487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59 endpoints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103120"/>
            <a:ext cx="2194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2103120"/>
            <a:ext cx="2194560" cy="128016"/>
          </a:xfrm>
          <a:prstGeom prst="rect">
            <a:avLst/>
          </a:prstGeom>
          <a:solidFill>
            <a:srgbClr val="1C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3317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Cible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761487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Ops + Sec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23944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Message 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44568"/>
            <a:ext cx="103784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Plateforme operationnelle qui centralise l'inventaire, la supervision et la securite endpoint.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Base prete pour industrialisation CI/CD, gouvernance et reporting de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2"/>
                </a:solidFill>
              </a:defRPr>
            </a:pPr>
            <a:r>
              <a:t>IT Monitoring | Executive deck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C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81C22"/>
                </a:solidFill>
              </a:defRPr>
            </a:pPr>
            <a:r>
              <a:t>Valeur metier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606E"/>
                </a:solidFill>
              </a:defRPr>
            </a:pPr>
            <a:r>
              <a:t>Pourquoi investir dans la phase d'industrialisation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Gains attendus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484632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Reduction du temps de diagnostic incident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Meilleure fiabilite de l'inventaire IT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Visibilite securite centralisee et continue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Decision plus rapide grace aux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208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Impact organisationnel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41448"/>
            <a:ext cx="484632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Standardisation des processus N1/N2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Montree en competence progressive equipe ops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Traçabilite des actions securite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Support a la conformite et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2"/>
                </a:solidFill>
              </a:defRPr>
            </a:pPr>
            <a:r>
              <a:t>IT Monitoring | Executive deck | 2026-04-07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C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81C22"/>
                </a:solidFill>
              </a:defRPr>
            </a:pPr>
            <a:r>
              <a:t>KPI de 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606E"/>
                </a:solidFill>
              </a:defRPr>
            </a:pPr>
            <a:r>
              <a:t>Proposition de tableau de bord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2606040" cy="128016"/>
          </a:xfrm>
          <a:prstGeom prst="rect">
            <a:avLst/>
          </a:prstGeom>
          <a:solidFill>
            <a:srgbClr val="1C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Disponibilite plate-forme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&gt;99%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11680"/>
            <a:ext cx="260604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Couverture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70048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Cible 85%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11680"/>
            <a:ext cx="2606040" cy="128016"/>
          </a:xfrm>
          <a:prstGeom prst="rect">
            <a:avLst/>
          </a:prstGeom>
          <a:solidFill>
            <a:srgbClr val="1C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MTTD securite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70048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-30%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01168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2011680"/>
            <a:ext cx="2423160" cy="128016"/>
          </a:xfrm>
          <a:prstGeom prst="rect">
            <a:avLst/>
          </a:prstGeom>
          <a:solidFill>
            <a:srgbClr val="1C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4028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MTTR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7004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-25%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11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611880"/>
            <a:ext cx="260604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404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Taux actifs qualifies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70248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&gt;95%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611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3611880"/>
            <a:ext cx="260604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8404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Alerts traitees &lt;24h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70248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&gt;90%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11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611880"/>
            <a:ext cx="2606040" cy="128016"/>
          </a:xfrm>
          <a:prstGeom prst="rect">
            <a:avLst/>
          </a:prstGeom>
          <a:solidFill>
            <a:srgbClr val="BC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8404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Derive capacitaire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270248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&lt;10%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361188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52560" y="3611880"/>
            <a:ext cx="242316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84048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Conformite endpoint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270248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&gt;92%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25780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404104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24728"/>
            <a:ext cx="10378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KPI a affiner avec les donnees de production sur les 4 premieres semaines.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2"/>
                </a:solidFill>
              </a:defRPr>
            </a:pPr>
            <a:r>
              <a:t>IT Monitoring | Executive deck | 2026-04-07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C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81C22"/>
                </a:solidFill>
              </a:defRPr>
            </a:pPr>
            <a:r>
              <a:t>Budget et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606E"/>
                </a:solidFill>
              </a:defRPr>
            </a:pPr>
            <a:r>
              <a:t>Hypothese de cadrage pour phase 2 (90 jours)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6654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Budget indicatif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48463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Ingenierie/devops: 30-45 j.h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Durcissement securite: 10-15 j.h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Accompagnement exploitation: 8-12 j.h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Formation et transfert: 5-8 j.h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Total estime: 53-80 j.h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6654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ROI attendu (6-12 mois)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87168"/>
            <a:ext cx="48463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Moins d'interruptions non maitrisees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Baisse des couts de diagnostic manuel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Gain de productivite equipes IT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Reduction exposition risques securite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Retour sur investissement probable &lt;12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2"/>
                </a:solidFill>
              </a:defRPr>
            </a:pPr>
            <a:r>
              <a:t>IT Monitoring | Executive deck | 2026-04-07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C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81C22"/>
                </a:solidFill>
              </a:defRPr>
            </a:pPr>
            <a:r>
              <a:t>Risques et plans de maitrise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08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Risques majeurs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48463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Couverture agent incomplete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Dette technique CI/CD et tests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Dependance a des configurations manuelles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Sensibilite DNS/reseau en environnement serveur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208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Actions de 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41448"/>
            <a:ext cx="48463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Automatiser deploiement et controles post-deploy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Mettre en place pipeline de tests obligatoires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Durcir observabilite + alerting technique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Documenter runbooks N1/N2 + PRA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2"/>
                </a:solidFill>
              </a:defRPr>
            </a:pPr>
            <a:r>
              <a:t>IT Monitoring | Executive deck | 2026-04-07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C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81C22"/>
                </a:solidFill>
              </a:defRPr>
            </a:pPr>
            <a:r>
              <a:t>Decision attendue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5606E"/>
                </a:solidFill>
              </a:defRPr>
            </a:pPr>
            <a:r>
              <a:t>Validation du passage en phase industrialisation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6070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5798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C2B68"/>
                </a:solidFill>
              </a:defRPr>
            </a:pPr>
            <a:r>
              <a:t>Proposition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78608"/>
            <a:ext cx="1019556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81C22"/>
                </a:solidFill>
              </a:defRPr>
            </a:pPr>
            <a:r>
              <a:t>Lancer un sprint de 90 jours axe fiabilite, securite et pilotage KPI.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Nommer un sponsor metier + un referent exploitation.</a:t>
            </a:r>
          </a:p>
          <a:p>
            <a:pPr>
              <a:defRPr sz="1400">
                <a:solidFill>
                  <a:srgbClr val="181C22"/>
                </a:solidFill>
              </a:defRPr>
            </a:pPr>
            <a:r>
              <a:t>Mettre en place un reporting hebdomadaire au comite de suivi.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98348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4983480"/>
            <a:ext cx="3291840" cy="128016"/>
          </a:xfrm>
          <a:prstGeom prst="rect">
            <a:avLst/>
          </a:prstGeom>
          <a:solidFill>
            <a:srgbClr val="1C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5212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J+30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64184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Stabilisation prod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498348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4983480"/>
            <a:ext cx="3291840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5212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J+60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64184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Automatisation CI/CD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498348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4983480"/>
            <a:ext cx="3291840" cy="128016"/>
          </a:xfrm>
          <a:prstGeom prst="rect">
            <a:avLst/>
          </a:prstGeom>
          <a:solidFill>
            <a:srgbClr val="0C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5212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5C66"/>
                </a:solidFill>
              </a:defRPr>
            </a:pPr>
            <a:r>
              <a:t>J+90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564184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81C22"/>
                </a:solidFill>
              </a:defRPr>
            </a:pPr>
            <a:r>
              <a:t>Tableau de bord exec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2"/>
                </a:solidFill>
              </a:defRPr>
            </a:pPr>
            <a:r>
              <a:t>IT Monitoring | Executive deck | 2026-04-07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